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0" r:id="rId4"/>
    <p:sldId id="259" r:id="rId5"/>
    <p:sldId id="262" r:id="rId6"/>
    <p:sldId id="263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4572"/>
    <a:srgbClr val="035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081A97-2238-C7B8-69E7-26B3C14F36FB}" v="11" dt="2026-01-14T10:20:10.295"/>
    <p1510:client id="{564D7F46-8705-9B6A-BC08-C268E799DA9D}" v="58" dt="2026-01-14T09:43:41.309"/>
    <p1510:client id="{5ECDB6DE-2413-427C-BBEA-7E81E2C3AA72}" v="3407" dt="2026-01-14T16:54:36.484"/>
    <p1510:client id="{AF0058D3-229D-DCBC-74D4-314F506C7B30}" v="300" dt="2026-01-14T11:22:48.467"/>
    <p1510:client id="{D5AAE136-1876-DD82-6C7F-BCF19C0CBDBE}" v="106" dt="2026-01-14T10:17:26.6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0FA946-A84E-4A3C-9FA0-6E2A692FCEDF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735911-A3E6-4C46-A749-2B97580C75E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312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735911-A3E6-4C46-A749-2B97580C75EE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2174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5418F-9238-A542-8878-3FD45CFC4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59B3229-A201-A9E7-AEDC-0480E5013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990C6CE-FC9A-6C94-7CCB-55F3D63008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8981381-B712-C6A3-98F5-84CD8D614C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735911-A3E6-4C46-A749-2B97580C75EE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8853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EED78-6238-2511-1F2E-273D188FC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E458A1BF-850E-8B89-82A6-8D4D3F7436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507EABC-118F-3CD1-212F-826CA2C28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509E50-1B76-0C75-CF8E-7183B515F9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735911-A3E6-4C46-A749-2B97580C75EE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3957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BC3D2-2F66-5B01-DB37-10539B79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B91D254-D7B2-520E-808B-FA8556A2D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70440D4-B847-C8B7-C920-B35B19370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3B6BF0E-2163-8905-6E50-97B8DC3A7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735911-A3E6-4C46-A749-2B97580C75EE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3220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C56C6-8D07-C4F7-C0B5-5D5ED0F8F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4AF68D6-6032-CAD5-1612-62FC85109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B3D9292D-8FB9-A684-0754-B0D34945C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C2854C-4B9C-6F34-1A4B-5AFF91BFC4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735911-A3E6-4C46-A749-2B97580C75EE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2141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E7DED-6C4C-7CD5-F5A6-1081A5F6F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94D59E16-5263-B4D9-DAA7-B7E22113B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B5562DB-7D9F-18F7-BBAE-14D2C134D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701EE84-2690-9842-0B01-3AECDEF11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735911-A3E6-4C46-A749-2B97580C75EE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30154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81A3-7077-4EB2-9AFE-55B436C40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76CC65A-598B-D160-6544-711F449BA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E9CDA46-5CA3-CCB0-2D71-33DF9455CB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42B40DA-8E53-638A-6C56-6BE821E5D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735911-A3E6-4C46-A749-2B97580C75EE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5829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64F67-AD82-75E3-2907-EF76079ED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EA162B9-0DFC-AAE8-701A-C0663F6DA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F5584ED-2362-08C4-EF78-9716CB7D3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EDF33D5-517A-0715-CA15-92D4E21B3D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735911-A3E6-4C46-A749-2B97580C75EE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4824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F23223-386B-F5D6-7713-B477B4D5B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4297066-CD15-7130-E13A-A1AA97D017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E579E77-BA34-8D4A-296C-3EBF35736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D5B30-2BFB-4853-BA3E-1B63B37DF3F5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84AAAEE-3B88-0DEA-10DB-EFD05142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13E3FD-2B9A-7585-169D-CDC1903C3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38E4-8070-447C-929E-7A27D5E7698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767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B9F68F-4B2C-75A1-8285-248B30121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DCFA45-CCCF-BA6E-4EF9-D84A5886C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14218BB-7E1E-FC69-1C2B-421CD3DE5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D5B30-2BFB-4853-BA3E-1B63B37DF3F5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DBCED8E-50EE-C23F-0188-A7217C7EB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12B2BA7-67E6-AE10-E34C-EC25637A7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38E4-8070-447C-929E-7A27D5E7698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5185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90DAC9-839C-A601-78D3-E5481007E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C8F0376-2230-AC2E-EEAD-DC8E143F5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01042C7-DB4D-7507-AAC8-79327633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D5B30-2BFB-4853-BA3E-1B63B37DF3F5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A0037D-70A6-8E70-AA15-5516F534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3EE84B-5E57-9CED-6149-C44B28CDC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38E4-8070-447C-929E-7A27D5E7698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9784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F0C866-6BF9-AF83-B48C-562CC6A15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C37B5BD-D6F4-0DEE-6069-95989FCB7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7180E30-87D2-0E8A-58DD-D2691921A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93AC4C-BC8D-A4DF-51C0-CCDEF3992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D5B30-2BFB-4853-BA3E-1B63B37DF3F5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5708D11-F972-9661-5FE4-236FE7B4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4F35A92-2537-A7B0-1CB6-DF90D953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38E4-8070-447C-929E-7A27D5E7698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7396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A60DBE-09DF-8B5F-B932-97E9DB67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C487F3-689B-D4C0-8EA7-15986B5EB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37A4F33-DEE9-71FC-3BBD-14CFA286C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4BA1E77-9923-8673-D1EF-F90A6CBA7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FB189FD-FD9B-6E10-E900-8B834DCEC7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19B477D-6E14-41CD-66B4-5EACF938E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D5B30-2BFB-4853-BA3E-1B63B37DF3F5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C8DC0AE-83AE-8579-E901-7ACDD74A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A9A9F38-C6AD-AE44-155F-4FD30A25B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38E4-8070-447C-929E-7A27D5E7698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0156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1BAC3E-9201-52E8-E072-D02B7C42A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F1704B2-B323-C3D6-368E-5CEFB1C9A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D5B30-2BFB-4853-BA3E-1B63B37DF3F5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35770D9C-40B9-1320-C6EE-6CE6C08C5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50025A1-7B0B-800C-F091-8DEE79810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38E4-8070-447C-929E-7A27D5E7698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7111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2CFC088-20F1-0C9C-6B0E-C7856E8B4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D5B30-2BFB-4853-BA3E-1B63B37DF3F5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178F74ED-0E53-5A4C-5948-E21AE037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7073AA1-3028-A7AD-02CE-3156339A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38E4-8070-447C-929E-7A27D5E7698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021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3F62F7-3FE5-267B-1192-5536E4858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1FB05B7-0990-15CE-114B-91188D96F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FA90D52-E1E0-6E01-ADDE-AF9923514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AB64D79-5FC9-A498-6ABF-BDD42DB97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D5B30-2BFB-4853-BA3E-1B63B37DF3F5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CDD642F-88BF-61B3-EC89-C8FA29303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C99F912-8145-FCBD-B1F3-9CA4E958B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38E4-8070-447C-929E-7A27D5E7698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5808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B55134D-AE50-88DC-F0A6-F8A4F4D80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C1E8092-8CC6-FBDC-E8EE-491443D1CF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B8BA839-3606-90FD-22EB-350E21B56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53F5622-D85C-FC5A-C458-21CC1661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D5B30-2BFB-4853-BA3E-1B63B37DF3F5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B86B78C-1CE4-7B66-43DD-923404295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3C29ECB-BC35-97A2-103B-673B1AC4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38E4-8070-447C-929E-7A27D5E7698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8621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45AE09-E2B3-21D8-4356-5E956C305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D4ED370-BD5B-035A-D2F1-3ABC73263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664818-5BAD-8D29-4D63-AC07E2878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D5B30-2BFB-4853-BA3E-1B63B37DF3F5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B0263A9-A54E-DCD0-B7DE-8C05F7FA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5E88A8-CEE5-D0DF-E0D7-4B15090FF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38E4-8070-447C-929E-7A27D5E7698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2602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D30BEB8-D25E-B5EE-A031-1AC486B4C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4F07DD1-B938-A5FC-2881-DA41A5F00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83126C-1F06-AD5B-BCAD-18FFFC92A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7D5B30-2BFB-4853-BA3E-1B63B37DF3F5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E45A53-2C8C-2C16-9DA0-3F8AA0C7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36521C7-2F09-3B7E-E8F2-03A7ADB9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A938E4-8070-447C-929E-7A27D5E7698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226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9CC13B8-32C7-CF60-5511-C548212F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F339B8-ED61-2B28-2F6E-9EFD7D126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91B05D1-D195-1B49-414C-9263833FCB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D5B30-2BFB-4853-BA3E-1B63B37DF3F5}" type="datetimeFigureOut">
              <a:rPr lang="it-IT" smtClean="0"/>
              <a:t>14/01/2026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467D2DF-FE27-727A-40C9-F3FBCCE25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D3A431-B09F-0A62-9EE3-A240DA51E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938E4-8070-447C-929E-7A27D5E7698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8935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DFFEA9CA-498B-3EBE-BE29-890641B16159}"/>
              </a:ext>
            </a:extLst>
          </p:cNvPr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245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pic>
        <p:nvPicPr>
          <p:cNvPr id="7" name="Immagine 6" descr="Immagine che contiene arte, cerchio, disegn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F239D02D-57DB-BF52-D869-B0F544AC5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9811" y="725204"/>
            <a:ext cx="1236188" cy="1260000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75ADDD1A-8247-0324-8E30-758ACD49A17C}"/>
              </a:ext>
            </a:extLst>
          </p:cNvPr>
          <p:cNvSpPr txBox="1"/>
          <p:nvPr/>
        </p:nvSpPr>
        <p:spPr>
          <a:xfrm>
            <a:off x="2650636" y="2217098"/>
            <a:ext cx="6734536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500" noProof="0">
                <a:latin typeface="Baskerville Old Face" panose="02020602080505020303" pitchFamily="18" charset="0"/>
              </a:rPr>
              <a:t>PERFORMANCE AND EVALUATION </a:t>
            </a:r>
          </a:p>
          <a:p>
            <a:pPr algn="ctr"/>
            <a:r>
              <a:rPr lang="en-GB" sz="2500" noProof="0">
                <a:latin typeface="Baskerville Old Face" panose="02020602080505020303" pitchFamily="18" charset="0"/>
              </a:rPr>
              <a:t>OF COMPUTER SYSTEMS AND NETWORKS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C20EE9A-93CA-C294-0F85-AF1D49DD5829}"/>
              </a:ext>
            </a:extLst>
          </p:cNvPr>
          <p:cNvSpPr txBox="1"/>
          <p:nvPr/>
        </p:nvSpPr>
        <p:spPr>
          <a:xfrm>
            <a:off x="3453288" y="3597385"/>
            <a:ext cx="528542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000" b="1" noProof="0" dirty="0">
                <a:latin typeface="Baskerville Old Face" panose="02020602080505020303" pitchFamily="18" charset="0"/>
              </a:rPr>
              <a:t>5G Connected High-Speed Train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A7A3518-505D-A167-490F-2CC0A93AA105}"/>
              </a:ext>
            </a:extLst>
          </p:cNvPr>
          <p:cNvSpPr txBox="1"/>
          <p:nvPr/>
        </p:nvSpPr>
        <p:spPr>
          <a:xfrm>
            <a:off x="8390366" y="4740492"/>
            <a:ext cx="228940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b="1" i="1" noProof="0" dirty="0">
                <a:latin typeface="Baskerville Old Face" panose="02020602080505020303" pitchFamily="18" charset="0"/>
              </a:rPr>
              <a:t>Students: </a:t>
            </a:r>
          </a:p>
          <a:p>
            <a:r>
              <a:rPr lang="en-GB" sz="2200" noProof="0" dirty="0">
                <a:latin typeface="Baskerville Old Face" panose="02020602080505020303" pitchFamily="18" charset="0"/>
              </a:rPr>
              <a:t>Sebastiano Pala </a:t>
            </a:r>
          </a:p>
          <a:p>
            <a:r>
              <a:rPr lang="en-GB" sz="2200" noProof="0" dirty="0">
                <a:latin typeface="Baskerville Old Face" panose="02020602080505020303" pitchFamily="18" charset="0"/>
              </a:rPr>
              <a:t>Eleonora Sgorbini 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5118255-C2D7-DC9F-38BE-6CF1E41D2A4C}"/>
              </a:ext>
            </a:extLst>
          </p:cNvPr>
          <p:cNvSpPr/>
          <p:nvPr/>
        </p:nvSpPr>
        <p:spPr>
          <a:xfrm>
            <a:off x="0" y="6437598"/>
            <a:ext cx="12192000" cy="432000"/>
          </a:xfrm>
          <a:prstGeom prst="rect">
            <a:avLst/>
          </a:prstGeom>
          <a:solidFill>
            <a:srgbClr val="0245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83CD614-EE08-34B5-B5B1-1377C21FD6AD}"/>
              </a:ext>
            </a:extLst>
          </p:cNvPr>
          <p:cNvSpPr txBox="1"/>
          <p:nvPr/>
        </p:nvSpPr>
        <p:spPr>
          <a:xfrm>
            <a:off x="4456418" y="6466896"/>
            <a:ext cx="31229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noProof="0" dirty="0">
                <a:solidFill>
                  <a:schemeClr val="bg1"/>
                </a:solidFill>
                <a:latin typeface="Baskerville Old Face" panose="02020602080505020303" pitchFamily="18" charset="0"/>
              </a:rPr>
              <a:t>ACADEMIC YEAR 2025/2026</a:t>
            </a:r>
          </a:p>
        </p:txBody>
      </p:sp>
    </p:spTree>
    <p:extLst>
      <p:ext uri="{BB962C8B-B14F-4D97-AF65-F5344CB8AC3E}">
        <p14:creationId xmlns:p14="http://schemas.microsoft.com/office/powerpoint/2010/main" val="2677182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E2977867-7352-0F8B-3F2A-BC437ED1CD89}"/>
              </a:ext>
            </a:extLst>
          </p:cNvPr>
          <p:cNvSpPr/>
          <p:nvPr/>
        </p:nvSpPr>
        <p:spPr>
          <a:xfrm>
            <a:off x="337457" y="228600"/>
            <a:ext cx="11517086" cy="979714"/>
          </a:xfrm>
          <a:prstGeom prst="roundRect">
            <a:avLst/>
          </a:prstGeom>
          <a:solidFill>
            <a:srgbClr val="0245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500" noProof="0">
                <a:solidFill>
                  <a:schemeClr val="bg1"/>
                </a:solidFill>
                <a:latin typeface="Baskerville Old Face" panose="02020602080505020303" pitchFamily="18" charset="0"/>
              </a:rPr>
              <a:t>Description of the system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BADF45FC-8AC3-9DA3-9A0D-38D8B6317CA0}"/>
              </a:ext>
            </a:extLst>
          </p:cNvPr>
          <p:cNvSpPr txBox="1"/>
          <p:nvPr/>
        </p:nvSpPr>
        <p:spPr>
          <a:xfrm>
            <a:off x="7538415" y="1471910"/>
            <a:ext cx="41910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u="sng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Factor: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900" b="1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N</a:t>
            </a:r>
            <a:r>
              <a:rPr lang="en-GB" sz="1900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:</a:t>
            </a:r>
            <a:r>
              <a:rPr lang="en-GB" sz="1900" b="1" noProof="0" dirty="0">
                <a:latin typeface="Baskerville Old Face" panose="02020602080505020303" pitchFamily="18" charset="0"/>
              </a:rPr>
              <a:t> </a:t>
            </a:r>
            <a:r>
              <a:rPr lang="en-GB" sz="1900" noProof="0" dirty="0">
                <a:latin typeface="Baskerville Old Face" panose="02020602080505020303" pitchFamily="18" charset="0"/>
              </a:rPr>
              <a:t>Number of Passengers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900" b="1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M</a:t>
            </a:r>
            <a:r>
              <a:rPr lang="en-GB" sz="1900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:</a:t>
            </a:r>
            <a:r>
              <a:rPr lang="en-GB" sz="1900" noProof="0" dirty="0">
                <a:latin typeface="Baskerville Old Face" panose="02020602080505020303" pitchFamily="18" charset="0"/>
              </a:rPr>
              <a:t> Number of Base Stations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900" b="1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H</a:t>
            </a:r>
            <a:r>
              <a:rPr lang="en-GB" sz="1900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:</a:t>
            </a:r>
            <a:r>
              <a:rPr lang="en-GB" sz="1900" b="1" noProof="0" dirty="0">
                <a:latin typeface="Baskerville Old Face" panose="02020602080505020303" pitchFamily="18" charset="0"/>
              </a:rPr>
              <a:t> </a:t>
            </a:r>
            <a:r>
              <a:rPr lang="en-GB" sz="1900" noProof="0" dirty="0">
                <a:latin typeface="Baskerville Old Face" panose="02020602080505020303" pitchFamily="18" charset="0"/>
              </a:rPr>
              <a:t>Mean Handover Delay (s)</a:t>
            </a:r>
          </a:p>
          <a:p>
            <a:endParaRPr lang="en-GB" sz="2000" noProof="0" dirty="0">
              <a:latin typeface="Baskerville Old Face" panose="02020602080505020303" pitchFamily="18" charset="0"/>
            </a:endParaRPr>
          </a:p>
          <a:p>
            <a:r>
              <a:rPr lang="en-GB" sz="2000" b="1" u="sng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Parameters: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b="1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S</a:t>
            </a:r>
            <a:r>
              <a:rPr lang="en-GB" sz="1900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:</a:t>
            </a:r>
            <a:r>
              <a:rPr lang="en-GB" sz="1900" noProof="0" dirty="0">
                <a:latin typeface="Baskerville Old Face" panose="02020602080505020303" pitchFamily="18" charset="0"/>
              </a:rPr>
              <a:t> Mean packet size (Bytes)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b="1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T</a:t>
            </a:r>
            <a:r>
              <a:rPr lang="en-GB" sz="1900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:</a:t>
            </a:r>
            <a:r>
              <a:rPr lang="en-GB" sz="1900" noProof="0" dirty="0">
                <a:latin typeface="Baskerville Old Face" panose="02020602080505020303" pitchFamily="18" charset="0"/>
              </a:rPr>
              <a:t> Mean generation time of the packets (s)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b="1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C</a:t>
            </a:r>
            <a:r>
              <a:rPr lang="en-GB" sz="1900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:</a:t>
            </a:r>
            <a:r>
              <a:rPr lang="en-GB" sz="1900" noProof="0" dirty="0">
                <a:latin typeface="Baskerville Old Face" panose="02020602080505020303" pitchFamily="18" charset="0"/>
              </a:rPr>
              <a:t> Maximum transmission rate (Bytes/s)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b="1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V</a:t>
            </a:r>
            <a:r>
              <a:rPr lang="en-GB" sz="1900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:</a:t>
            </a:r>
            <a:r>
              <a:rPr lang="en-GB" sz="1900" noProof="0" dirty="0">
                <a:latin typeface="Baskerville Old Face" panose="02020602080505020303" pitchFamily="18" charset="0"/>
              </a:rPr>
              <a:t> Train Speed</a:t>
            </a:r>
            <a:r>
              <a:rPr lang="en-GB" sz="1900" dirty="0">
                <a:latin typeface="Baskerville Old Face" panose="02020602080505020303" pitchFamily="18" charset="0"/>
              </a:rPr>
              <a:t> (km/h)</a:t>
            </a:r>
            <a:endParaRPr lang="en-GB" sz="1900" noProof="0" dirty="0">
              <a:latin typeface="Baskerville Old Face" panose="020206020805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900" b="1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L</a:t>
            </a:r>
            <a:r>
              <a:rPr lang="en-GB" sz="1900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:</a:t>
            </a:r>
            <a:r>
              <a:rPr lang="en-GB" sz="1900" noProof="0" dirty="0">
                <a:latin typeface="Baskerville Old Face" panose="02020602080505020303" pitchFamily="18" charset="0"/>
              </a:rPr>
              <a:t> Railway length fixed to 10 km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noProof="0" dirty="0">
              <a:latin typeface="Baskerville Old Face" panose="02020602080505020303" pitchFamily="18" charset="0"/>
            </a:endParaRPr>
          </a:p>
          <a:p>
            <a:r>
              <a:rPr lang="en-GB" sz="2000" b="1" u="sng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Performance Indexes: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900" b="1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Throughput </a:t>
            </a:r>
            <a:r>
              <a:rPr lang="en-GB" sz="1900" noProof="0" dirty="0">
                <a:latin typeface="Baskerville Old Face" panose="02020602080505020303" pitchFamily="18" charset="0"/>
              </a:rPr>
              <a:t>(Byte/s)</a:t>
            </a:r>
            <a:endParaRPr lang="en-GB" sz="1900" b="1" noProof="0" dirty="0">
              <a:solidFill>
                <a:srgbClr val="024572"/>
              </a:solidFill>
              <a:latin typeface="Baskerville Old Face" panose="020206020805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900" b="1" noProof="0" dirty="0">
                <a:solidFill>
                  <a:srgbClr val="024572"/>
                </a:solidFill>
                <a:latin typeface="Baskerville Old Face" panose="02020602080505020303" pitchFamily="18" charset="0"/>
              </a:rPr>
              <a:t>Response Time </a:t>
            </a:r>
            <a:r>
              <a:rPr lang="en-GB" sz="1900" noProof="0" dirty="0">
                <a:latin typeface="Baskerville Old Face" panose="02020602080505020303" pitchFamily="18" charset="0"/>
              </a:rPr>
              <a:t>(s)</a:t>
            </a:r>
            <a:endParaRPr lang="en-GB" sz="1900" b="1" u="sng" noProof="0" dirty="0">
              <a:solidFill>
                <a:srgbClr val="024572"/>
              </a:solidFill>
              <a:latin typeface="Baskerville Old Face" panose="02020602080505020303" pitchFamily="18" charset="0"/>
            </a:endParaRPr>
          </a:p>
          <a:p>
            <a:endParaRPr lang="en-GB" noProof="0" dirty="0">
              <a:latin typeface="Baskerville Old Face" panose="02020602080505020303" pitchFamily="18" charset="0"/>
            </a:endParaRPr>
          </a:p>
        </p:txBody>
      </p:sp>
      <p:pic>
        <p:nvPicPr>
          <p:cNvPr id="8" name="Immagine 7" descr="Immagine che contiene testo, schermat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F63C3891-A2CC-3A82-30C4-EAEDA0EB5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52" b="2030"/>
          <a:stretch>
            <a:fillRect/>
          </a:stretch>
        </p:blipFill>
        <p:spPr>
          <a:xfrm>
            <a:off x="1833524" y="3224463"/>
            <a:ext cx="3862191" cy="29453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magine 8" descr="a">
            <a:extLst>
              <a:ext uri="{FF2B5EF4-FFF2-40B4-BE49-F238E27FC236}">
                <a16:creationId xmlns:a16="http://schemas.microsoft.com/office/drawing/2014/main" id="{5E3BF5A3-D0E1-E1DE-A1DE-DC635A4CB3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2206" r="515" b="1625"/>
          <a:stretch>
            <a:fillRect/>
          </a:stretch>
        </p:blipFill>
        <p:spPr>
          <a:xfrm>
            <a:off x="541300" y="1703671"/>
            <a:ext cx="6446641" cy="12512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6851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D7472-2AEB-5EA8-09C4-97A2B4ABD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2CC0C276-8169-D647-FD6A-D8E7BB00EC54}"/>
              </a:ext>
            </a:extLst>
          </p:cNvPr>
          <p:cNvSpPr/>
          <p:nvPr/>
        </p:nvSpPr>
        <p:spPr>
          <a:xfrm>
            <a:off x="337457" y="228600"/>
            <a:ext cx="11517086" cy="979714"/>
          </a:xfrm>
          <a:prstGeom prst="roundRect">
            <a:avLst/>
          </a:prstGeom>
          <a:solidFill>
            <a:srgbClr val="0245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500" noProof="0">
                <a:solidFill>
                  <a:schemeClr val="bg1"/>
                </a:solidFill>
                <a:latin typeface="Baskerville Old Face" panose="02020602080505020303" pitchFamily="18" charset="0"/>
              </a:rPr>
              <a:t>Modelling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361C321-1CB6-5591-38F4-4FBAD73393D2}"/>
              </a:ext>
            </a:extLst>
          </p:cNvPr>
          <p:cNvSpPr txBox="1"/>
          <p:nvPr/>
        </p:nvSpPr>
        <p:spPr>
          <a:xfrm>
            <a:off x="558265" y="1713297"/>
            <a:ext cx="5265019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u="sng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GENERAL ASSUMPTION</a:t>
            </a:r>
          </a:p>
          <a:p>
            <a:pPr algn="ctr"/>
            <a:endParaRPr lang="en-GB" noProof="0">
              <a:latin typeface="Baskerville Old Face" panose="02020602080505020303" pitchFamily="18" charset="0"/>
            </a:endParaRPr>
          </a:p>
          <a:p>
            <a:pPr marL="285750" indent="-285750" algn="just">
              <a:buClr>
                <a:srgbClr val="024572"/>
              </a:buClr>
              <a:buFont typeface="Wingdings" panose="05000000000000000000" pitchFamily="2" charset="2"/>
              <a:buChar char="ü"/>
            </a:pPr>
            <a:r>
              <a:rPr lang="en-GB" noProof="0">
                <a:latin typeface="Baskerville Old Face" panose="02020602080505020303" pitchFamily="18" charset="0"/>
              </a:rPr>
              <a:t>The propagation delay between the Access Point and a Base Station is considered equal to zero            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GB" sz="1000" noProof="0">
              <a:latin typeface="Baskerville Old Face" panose="02020602080505020303" pitchFamily="18" charset="0"/>
            </a:endParaRPr>
          </a:p>
          <a:p>
            <a:pPr marL="285750" indent="-285750" algn="just">
              <a:buClr>
                <a:srgbClr val="024572"/>
              </a:buClr>
              <a:buFont typeface="Wingdings" panose="05000000000000000000" pitchFamily="2" charset="2"/>
              <a:buChar char="ü"/>
            </a:pPr>
            <a:r>
              <a:rPr lang="en-GB" noProof="0">
                <a:latin typeface="Baskerville Old Face" panose="02020602080505020303" pitchFamily="18" charset="0"/>
              </a:rPr>
              <a:t>The transmission time is calculated using the rate at the instant the transmission starts, and remains unchanged regardless of how the rate changes afterwards (due to the distance)    </a:t>
            </a:r>
          </a:p>
          <a:p>
            <a:pPr algn="just"/>
            <a:r>
              <a:rPr lang="en-GB" sz="1000" noProof="0">
                <a:latin typeface="Baskerville Old Face" panose="02020602080505020303" pitchFamily="18" charset="0"/>
              </a:rPr>
              <a:t>        </a:t>
            </a:r>
          </a:p>
          <a:p>
            <a:pPr marL="285750" indent="-285750" algn="just">
              <a:buClr>
                <a:srgbClr val="024572"/>
              </a:buClr>
              <a:buFont typeface="Wingdings" panose="05000000000000000000" pitchFamily="2" charset="2"/>
              <a:buChar char="ü"/>
            </a:pPr>
            <a:r>
              <a:rPr lang="en-GB" noProof="0">
                <a:latin typeface="Baskerville Old Face" panose="02020602080505020303" pitchFamily="18" charset="0"/>
              </a:rPr>
              <a:t>The Access Point's queue is assumed to be infinite</a:t>
            </a:r>
          </a:p>
          <a:p>
            <a:pPr algn="just"/>
            <a:r>
              <a:rPr lang="en-GB" sz="1000" noProof="0">
                <a:latin typeface="Baskerville Old Face" panose="02020602080505020303" pitchFamily="18" charset="0"/>
              </a:rPr>
              <a:t>    </a:t>
            </a:r>
          </a:p>
          <a:p>
            <a:pPr marL="285750" indent="-285750" algn="just">
              <a:buClr>
                <a:srgbClr val="024572"/>
              </a:buClr>
              <a:buFont typeface="Wingdings" panose="05000000000000000000" pitchFamily="2" charset="2"/>
              <a:buChar char="ü"/>
            </a:pPr>
            <a:r>
              <a:rPr lang="en-GB" noProof="0">
                <a:latin typeface="Baskerville Old Face" panose="02020602080505020303" pitchFamily="18" charset="0"/>
              </a:rPr>
              <a:t>We have chosen to use a uniform random variable to represent the handover delay</a:t>
            </a:r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11E4662E-EFC5-C1F0-263D-2FBC338FD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" r="10"/>
          <a:stretch>
            <a:fillRect/>
          </a:stretch>
        </p:blipFill>
        <p:spPr>
          <a:xfrm>
            <a:off x="6095999" y="4090370"/>
            <a:ext cx="5832000" cy="1728230"/>
          </a:xfrm>
          <a:prstGeom prst="rect">
            <a:avLst/>
          </a:prstGeom>
        </p:spPr>
      </p:pic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5439CD2B-08D7-F79D-789F-AC09425D9E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5999" y="1794440"/>
            <a:ext cx="5832000" cy="194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502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29CE8-6523-675E-A7FD-9B857D746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3BF08739-F6CD-CCF9-060D-6D543424EC04}"/>
              </a:ext>
            </a:extLst>
          </p:cNvPr>
          <p:cNvSpPr/>
          <p:nvPr/>
        </p:nvSpPr>
        <p:spPr>
          <a:xfrm>
            <a:off x="337457" y="228600"/>
            <a:ext cx="11517086" cy="979714"/>
          </a:xfrm>
          <a:prstGeom prst="roundRect">
            <a:avLst/>
          </a:prstGeom>
          <a:solidFill>
            <a:srgbClr val="0245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500" noProof="0">
                <a:solidFill>
                  <a:schemeClr val="bg1"/>
                </a:solidFill>
                <a:latin typeface="Baskerville Old Face" panose="02020602080505020303" pitchFamily="18" charset="0"/>
              </a:rPr>
              <a:t>Implementation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1F4BF17-3D9C-46B2-D31E-CBC532BFE3C3}"/>
              </a:ext>
            </a:extLst>
          </p:cNvPr>
          <p:cNvSpPr txBox="1"/>
          <p:nvPr/>
        </p:nvSpPr>
        <p:spPr>
          <a:xfrm>
            <a:off x="1449203" y="1441132"/>
            <a:ext cx="9293593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u="sng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RAILWAY NETWORK</a:t>
            </a:r>
          </a:p>
          <a:p>
            <a:pPr algn="ctr"/>
            <a:endParaRPr lang="en-GB" u="sng" noProof="0">
              <a:solidFill>
                <a:srgbClr val="024572"/>
              </a:solidFill>
              <a:latin typeface="Baskerville Old Face" panose="02020602080505020303" pitchFamily="18" charset="0"/>
            </a:endParaRPr>
          </a:p>
          <a:p>
            <a:pPr algn="ctr"/>
            <a:r>
              <a:rPr lang="en-GB" sz="2200" b="1" u="sng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Modules</a:t>
            </a:r>
          </a:p>
          <a:p>
            <a:pPr algn="ctr"/>
            <a:endParaRPr lang="en-GB" sz="1200" u="sng" noProof="0">
              <a:solidFill>
                <a:srgbClr val="024572"/>
              </a:solidFill>
              <a:latin typeface="Baskerville Old Face" panose="02020602080505020303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b="1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Base station</a:t>
            </a:r>
            <a:r>
              <a:rPr lang="en-GB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: </a:t>
            </a:r>
            <a:r>
              <a:rPr lang="en-GB" noProof="0">
                <a:latin typeface="Baskerville Old Face" panose="02020602080505020303" pitchFamily="18" charset="0"/>
              </a:rPr>
              <a:t>simple module which models one of the entry points of the 5G radio network. All the base stations are evenly spaced along the railway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000" noProof="0">
              <a:latin typeface="Baskerville Old Face" panose="02020602080505020303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b="1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Mapper</a:t>
            </a:r>
            <a:r>
              <a:rPr lang="en-GB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: </a:t>
            </a:r>
            <a:r>
              <a:rPr lang="en-GB" noProof="0">
                <a:latin typeface="Baskerville Old Face" panose="02020602080505020303" pitchFamily="18" charset="0"/>
              </a:rPr>
              <a:t>simple module which models an omniscient entity that knows all the base stations' positions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000" noProof="0">
              <a:latin typeface="Baskerville Old Face" panose="02020602080505020303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b="1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Train</a:t>
            </a:r>
            <a:r>
              <a:rPr lang="en-GB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: </a:t>
            </a:r>
            <a:r>
              <a:rPr lang="en-GB" noProof="0">
                <a:latin typeface="Baskerville Old Face" panose="02020602080505020303" pitchFamily="18" charset="0"/>
              </a:rPr>
              <a:t>compound module which models the moving vehicle. This module contains:</a:t>
            </a:r>
          </a:p>
          <a:p>
            <a:pPr marL="1200150" lvl="2" indent="-285750" algn="just">
              <a:buFont typeface="Courier New" panose="02070309020205020404" pitchFamily="49" charset="0"/>
              <a:buChar char="o"/>
            </a:pPr>
            <a:r>
              <a:rPr lang="en-GB" b="1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Passenger</a:t>
            </a:r>
            <a:r>
              <a:rPr lang="en-GB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: </a:t>
            </a:r>
            <a:r>
              <a:rPr lang="en-GB" noProof="0">
                <a:latin typeface="Baskerville Old Face" panose="02020602080505020303" pitchFamily="18" charset="0"/>
              </a:rPr>
              <a:t>simple module which models one of the N passengers</a:t>
            </a:r>
          </a:p>
          <a:p>
            <a:pPr marL="1200150" lvl="2" indent="-285750" algn="just">
              <a:buFont typeface="Courier New" panose="02070309020205020404" pitchFamily="49" charset="0"/>
              <a:buChar char="o"/>
            </a:pPr>
            <a:endParaRPr lang="en-GB" sz="800" noProof="0">
              <a:latin typeface="Baskerville Old Face" panose="02020602080505020303" pitchFamily="18" charset="0"/>
            </a:endParaRPr>
          </a:p>
          <a:p>
            <a:pPr marL="1200150" lvl="2" indent="-285750" algn="just">
              <a:buFont typeface="Courier New" panose="02070309020205020404" pitchFamily="49" charset="0"/>
              <a:buChar char="o"/>
            </a:pPr>
            <a:r>
              <a:rPr lang="en-GB" b="1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Access Point</a:t>
            </a:r>
            <a:r>
              <a:rPr lang="en-GB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: </a:t>
            </a:r>
            <a:r>
              <a:rPr lang="en-GB" noProof="0">
                <a:latin typeface="Baskerville Old Face" panose="02020602080505020303" pitchFamily="18" charset="0"/>
              </a:rPr>
              <a:t>simple module which acts as a bridge between the passengers and the base station by receiving, storing and forwarding packets</a:t>
            </a:r>
          </a:p>
          <a:p>
            <a:pPr marL="1200150" lvl="2" indent="-285750" algn="just">
              <a:buFont typeface="Courier New" panose="02070309020205020404" pitchFamily="49" charset="0"/>
              <a:buChar char="o"/>
            </a:pPr>
            <a:endParaRPr lang="en-GB" sz="800" noProof="0">
              <a:latin typeface="Baskerville Old Face" panose="02020602080505020303" pitchFamily="18" charset="0"/>
            </a:endParaRPr>
          </a:p>
          <a:p>
            <a:pPr marL="1200150" lvl="2" indent="-285750" algn="just">
              <a:buFont typeface="Courier New" panose="02070309020205020404" pitchFamily="49" charset="0"/>
              <a:buChar char="o"/>
            </a:pPr>
            <a:r>
              <a:rPr lang="en-GB" b="1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Simple Mobility</a:t>
            </a:r>
            <a:r>
              <a:rPr lang="en-GB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: </a:t>
            </a:r>
            <a:r>
              <a:rPr lang="en-GB" noProof="0">
                <a:latin typeface="Baskerville Old Face" panose="02020602080505020303" pitchFamily="18" charset="0"/>
              </a:rPr>
              <a:t>simple module which updates the train's position</a:t>
            </a:r>
          </a:p>
          <a:p>
            <a:pPr marL="1200150" lvl="2" indent="-285750" algn="just">
              <a:buFont typeface="Courier New" panose="02070309020205020404" pitchFamily="49" charset="0"/>
              <a:buChar char="o"/>
            </a:pPr>
            <a:endParaRPr lang="en-GB" sz="800" noProof="0">
              <a:latin typeface="Baskerville Old Face" panose="02020602080505020303" pitchFamily="18" charset="0"/>
            </a:endParaRPr>
          </a:p>
          <a:p>
            <a:pPr marL="1200150" lvl="2" indent="-285750" algn="just">
              <a:buFont typeface="Courier New" panose="02070309020205020404" pitchFamily="49" charset="0"/>
              <a:buChar char="o"/>
            </a:pPr>
            <a:r>
              <a:rPr lang="en-GB" b="1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Debug Module</a:t>
            </a:r>
            <a:r>
              <a:rPr lang="en-GB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: </a:t>
            </a:r>
            <a:r>
              <a:rPr lang="en-GB" noProof="0">
                <a:latin typeface="Baskerville Old Face" panose="02020602080505020303" pitchFamily="18" charset="0"/>
              </a:rPr>
              <a:t>simple module which prints out values during the graphical simulation for debug purposes. It has no effect on the simulation</a:t>
            </a:r>
          </a:p>
        </p:txBody>
      </p:sp>
    </p:spTree>
    <p:extLst>
      <p:ext uri="{BB962C8B-B14F-4D97-AF65-F5344CB8AC3E}">
        <p14:creationId xmlns:p14="http://schemas.microsoft.com/office/powerpoint/2010/main" val="120149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D7A28-3CC8-50B3-6F70-BC269E707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A74A4EBB-58B6-291E-EA87-06601E1F27D1}"/>
              </a:ext>
            </a:extLst>
          </p:cNvPr>
          <p:cNvSpPr/>
          <p:nvPr/>
        </p:nvSpPr>
        <p:spPr>
          <a:xfrm>
            <a:off x="337457" y="228600"/>
            <a:ext cx="11517086" cy="979714"/>
          </a:xfrm>
          <a:prstGeom prst="roundRect">
            <a:avLst/>
          </a:prstGeom>
          <a:solidFill>
            <a:srgbClr val="0245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500" noProof="0">
                <a:solidFill>
                  <a:schemeClr val="bg1"/>
                </a:solidFill>
                <a:latin typeface="Baskerville Old Face" panose="02020602080505020303" pitchFamily="18" charset="0"/>
              </a:rPr>
              <a:t>Verification</a:t>
            </a:r>
          </a:p>
        </p:txBody>
      </p:sp>
      <p:pic>
        <p:nvPicPr>
          <p:cNvPr id="3" name="Immagine 2" descr="Immagine che contiene testo, schermata, Carattere, numero&#10;&#10;Il contenuto generato dall'IA potrebbe non essere corretto.">
            <a:extLst>
              <a:ext uri="{FF2B5EF4-FFF2-40B4-BE49-F238E27FC236}">
                <a16:creationId xmlns:a16="http://schemas.microsoft.com/office/drawing/2014/main" id="{59B20400-6D0B-8B7C-64B8-CDDE1CA5A6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7" r="3494" b="15058"/>
          <a:stretch>
            <a:fillRect/>
          </a:stretch>
        </p:blipFill>
        <p:spPr>
          <a:xfrm>
            <a:off x="368690" y="1854019"/>
            <a:ext cx="3802602" cy="237764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DE34B015-17BF-140B-82A1-6D92A1B33B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" b="131"/>
          <a:stretch/>
        </p:blipFill>
        <p:spPr>
          <a:xfrm>
            <a:off x="6425117" y="3916184"/>
            <a:ext cx="3802602" cy="1193406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182F0472-05AF-525E-1B9F-B109DF7CEB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1" b="2451"/>
          <a:stretch/>
        </p:blipFill>
        <p:spPr>
          <a:xfrm>
            <a:off x="670809" y="4974543"/>
            <a:ext cx="4943675" cy="95225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C807DF56-4AC0-8B21-C6B3-5C103901C0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" r="23"/>
          <a:stretch/>
        </p:blipFill>
        <p:spPr>
          <a:xfrm>
            <a:off x="6425117" y="5134113"/>
            <a:ext cx="4941615" cy="1188787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C1C7E45B-35E1-439A-4745-4E9F53F97AFC}"/>
              </a:ext>
            </a:extLst>
          </p:cNvPr>
          <p:cNvSpPr txBox="1"/>
          <p:nvPr/>
        </p:nvSpPr>
        <p:spPr>
          <a:xfrm>
            <a:off x="437726" y="1453910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noProof="0">
                <a:solidFill>
                  <a:srgbClr val="024572"/>
                </a:solidFill>
                <a:latin typeface="Baskerville Old Face"/>
              </a:rPr>
              <a:t>Deterministic Test </a:t>
            </a:r>
            <a:endParaRPr lang="en-GB" sz="2000" noProof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A08B5A8-0F90-955D-AEB7-DC38037985DD}"/>
              </a:ext>
            </a:extLst>
          </p:cNvPr>
          <p:cNvSpPr txBox="1"/>
          <p:nvPr/>
        </p:nvSpPr>
        <p:spPr>
          <a:xfrm>
            <a:off x="6094396" y="1453910"/>
            <a:ext cx="60976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b="1" noProof="0">
                <a:solidFill>
                  <a:srgbClr val="024572"/>
                </a:solidFill>
                <a:latin typeface="Baskerville Old Face"/>
              </a:rPr>
              <a:t>Degeneracy Tests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800" b="1" noProof="0">
              <a:solidFill>
                <a:srgbClr val="024572"/>
              </a:solidFill>
              <a:latin typeface="Baskerville Old Face"/>
            </a:endParaRP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GB" sz="1600" noProof="0">
                <a:latin typeface="Baskerville Old Face"/>
              </a:rPr>
              <a:t>M = 0 (No Base Stations)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GB" sz="1600" noProof="0">
                <a:latin typeface="Baskerville Old Face"/>
              </a:rPr>
              <a:t>V = 0 (No Train speed)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GB" sz="1600" noProof="0">
                <a:latin typeface="Baskerville Old Face"/>
              </a:rPr>
              <a:t>N = 0 (No Passengers)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GB" sz="1600" noProof="0">
                <a:latin typeface="Baskerville Old Face"/>
              </a:rPr>
              <a:t>C = 0 (Max Rate = 0)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GB" sz="1600" noProof="0">
                <a:latin typeface="Baskerville Old Face"/>
              </a:rPr>
              <a:t>H = 0 (No Handover)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96A4C5D5-FEE3-329B-0C9E-AEF07CA04BF9}"/>
              </a:ext>
            </a:extLst>
          </p:cNvPr>
          <p:cNvSpPr txBox="1"/>
          <p:nvPr/>
        </p:nvSpPr>
        <p:spPr>
          <a:xfrm>
            <a:off x="437726" y="4574433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2000" b="1" noProof="0">
                <a:solidFill>
                  <a:srgbClr val="024572"/>
                </a:solidFill>
                <a:latin typeface="Baskerville Old Face"/>
              </a:rPr>
              <a:t>Continuity Test    </a:t>
            </a:r>
            <a:endParaRPr lang="en-GB" sz="2000" b="1" noProof="0">
              <a:solidFill>
                <a:srgbClr val="024572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BC239E9-A0EE-6682-68CD-81A96F8850A1}"/>
              </a:ext>
            </a:extLst>
          </p:cNvPr>
          <p:cNvSpPr txBox="1"/>
          <p:nvPr/>
        </p:nvSpPr>
        <p:spPr>
          <a:xfrm>
            <a:off x="6096000" y="3491551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b="1" noProof="0">
                <a:solidFill>
                  <a:srgbClr val="024572"/>
                </a:solidFill>
                <a:latin typeface="Baskerville Old Face"/>
              </a:rPr>
              <a:t>Consistency Test    </a:t>
            </a:r>
          </a:p>
        </p:txBody>
      </p:sp>
    </p:spTree>
    <p:extLst>
      <p:ext uri="{BB962C8B-B14F-4D97-AF65-F5344CB8AC3E}">
        <p14:creationId xmlns:p14="http://schemas.microsoft.com/office/powerpoint/2010/main" val="1137466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84524-F7A6-135F-FCF0-72C5841D1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E6383D43-BC31-09F2-4176-22E4AF0D12AA}"/>
              </a:ext>
            </a:extLst>
          </p:cNvPr>
          <p:cNvSpPr/>
          <p:nvPr/>
        </p:nvSpPr>
        <p:spPr>
          <a:xfrm>
            <a:off x="337457" y="228600"/>
            <a:ext cx="11517086" cy="979714"/>
          </a:xfrm>
          <a:prstGeom prst="roundRect">
            <a:avLst/>
          </a:prstGeom>
          <a:solidFill>
            <a:srgbClr val="0245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4500" noProof="0">
                <a:solidFill>
                  <a:schemeClr val="bg1"/>
                </a:solidFill>
                <a:latin typeface="Baskerville Old Face"/>
              </a:rPr>
              <a:t>Calibration</a:t>
            </a:r>
            <a:endParaRPr lang="en-GB" sz="4500" noProof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3667B471-1461-AF3A-A130-46C607B99A10}"/>
                  </a:ext>
                </a:extLst>
              </p:cNvPr>
              <p:cNvSpPr txBox="1"/>
              <p:nvPr/>
            </p:nvSpPr>
            <p:spPr>
              <a:xfrm>
                <a:off x="498910" y="1367284"/>
                <a:ext cx="5228122" cy="5038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2000" b="1" u="sng" noProof="0">
                    <a:solidFill>
                      <a:srgbClr val="024572"/>
                    </a:solidFill>
                    <a:latin typeface="Baskerville Old Face" panose="02020602080505020303" pitchFamily="18" charset="0"/>
                  </a:rPr>
                  <a:t>Factor Calibration</a:t>
                </a:r>
              </a:p>
              <a:p>
                <a:pPr algn="ctr"/>
                <a:endParaRPr lang="en-GB" sz="1500" u="sng" noProof="0">
                  <a:solidFill>
                    <a:srgbClr val="024572"/>
                  </a:solidFill>
                  <a:latin typeface="Baskerville Old Face" panose="02020602080505020303" pitchFamily="18" charset="0"/>
                </a:endParaRP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r>
                  <a:rPr lang="en-GB" noProof="0">
                    <a:solidFill>
                      <a:srgbClr val="024572"/>
                    </a:solidFill>
                    <a:latin typeface="Baskerville Old Face" panose="02020602080505020303" pitchFamily="18" charset="0"/>
                  </a:rPr>
                  <a:t>Mean Packet size (S): </a:t>
                </a:r>
                <a:r>
                  <a:rPr lang="en-GB" noProof="0">
                    <a:latin typeface="Baskerville Old Face" panose="02020602080505020303" pitchFamily="18" charset="0"/>
                  </a:rPr>
                  <a:t>400 Bytes</a:t>
                </a: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endParaRPr lang="en-GB" sz="500" noProof="0">
                  <a:latin typeface="Baskerville Old Face" panose="02020602080505020303" pitchFamily="18" charset="0"/>
                </a:endParaRP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r>
                  <a:rPr lang="en-GB" noProof="0">
                    <a:solidFill>
                      <a:srgbClr val="024572"/>
                    </a:solidFill>
                    <a:latin typeface="Baskerville Old Face" panose="02020602080505020303" pitchFamily="18" charset="0"/>
                  </a:rPr>
                  <a:t>Mean Packet Generation Time (T): </a:t>
                </a:r>
                <a:r>
                  <a:rPr lang="en-GB" noProof="0">
                    <a:latin typeface="Baskerville Old Face" panose="02020602080505020303" pitchFamily="18" charset="0"/>
                  </a:rPr>
                  <a:t>0.03 s</a:t>
                </a: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endParaRPr lang="en-GB" sz="500" noProof="0">
                  <a:latin typeface="Baskerville Old Face" panose="02020602080505020303" pitchFamily="18" charset="0"/>
                </a:endParaRP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r>
                  <a:rPr lang="en-GB" noProof="0">
                    <a:solidFill>
                      <a:srgbClr val="024572"/>
                    </a:solidFill>
                    <a:latin typeface="Baskerville Old Face" panose="02020602080505020303" pitchFamily="18" charset="0"/>
                  </a:rPr>
                  <a:t>Train speed (V): </a:t>
                </a:r>
                <a:r>
                  <a:rPr lang="en-GB" noProof="0">
                    <a:latin typeface="Baskerville Old Face" panose="02020602080505020303" pitchFamily="18" charset="0"/>
                  </a:rPr>
                  <a:t>300 Km/h</a:t>
                </a: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endParaRPr lang="en-GB" sz="500" noProof="0">
                  <a:latin typeface="Baskerville Old Face" panose="02020602080505020303" pitchFamily="18" charset="0"/>
                </a:endParaRP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r>
                  <a:rPr lang="en-GB" noProof="0">
                    <a:solidFill>
                      <a:srgbClr val="024572"/>
                    </a:solidFill>
                    <a:latin typeface="Baskerville Old Face" panose="02020602080505020303" pitchFamily="18" charset="0"/>
                  </a:rPr>
                  <a:t>Number of Passengers (N): </a:t>
                </a:r>
                <a:r>
                  <a:rPr lang="en-GB" noProof="0">
                    <a:latin typeface="Baskerville Old Face" panose="02020602080505020303" pitchFamily="18" charset="0"/>
                  </a:rPr>
                  <a:t>{50, 100, 200, 300, 400}</a:t>
                </a: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endParaRPr lang="en-GB" sz="500" noProof="0">
                  <a:latin typeface="Baskerville Old Face" panose="02020602080505020303" pitchFamily="18" charset="0"/>
                </a:endParaRP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r>
                  <a:rPr lang="en-GB" noProof="0">
                    <a:solidFill>
                      <a:srgbClr val="024572"/>
                    </a:solidFill>
                    <a:latin typeface="Baskerville Old Face" panose="02020602080505020303" pitchFamily="18" charset="0"/>
                  </a:rPr>
                  <a:t>Number of Base stations (M): </a:t>
                </a:r>
                <a:r>
                  <a:rPr lang="en-GB" noProof="0">
                    <a:latin typeface="Baskerville Old Face" panose="02020602080505020303" pitchFamily="18" charset="0"/>
                  </a:rPr>
                  <a:t>{4, 7, 10, 13, 16}</a:t>
                </a: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endParaRPr lang="en-GB" sz="500" noProof="0">
                  <a:solidFill>
                    <a:srgbClr val="024572"/>
                  </a:solidFill>
                  <a:latin typeface="Baskerville Old Face" panose="02020602080505020303" pitchFamily="18" charset="0"/>
                </a:endParaRP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r>
                  <a:rPr lang="en-GB" noProof="0">
                    <a:solidFill>
                      <a:srgbClr val="024572"/>
                    </a:solidFill>
                    <a:latin typeface="Baskerville Old Face" panose="02020602080505020303" pitchFamily="18" charset="0"/>
                  </a:rPr>
                  <a:t>Maximum Transmission Rate (C): </a:t>
                </a:r>
                <a:r>
                  <a:rPr lang="en-GB" noProof="0">
                    <a:latin typeface="Baskerville Old Face" panose="02020602080505020303" pitchFamily="18" charset="0"/>
                  </a:rPr>
                  <a:t>3.5 MB/s</a:t>
                </a: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endParaRPr lang="en-GB" sz="500" noProof="0">
                  <a:solidFill>
                    <a:srgbClr val="024572"/>
                  </a:solidFill>
                  <a:latin typeface="Baskerville Old Face" panose="02020602080505020303" pitchFamily="18" charset="0"/>
                </a:endParaRP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r>
                  <a:rPr lang="en-GB" noProof="0">
                    <a:solidFill>
                      <a:srgbClr val="024572"/>
                    </a:solidFill>
                    <a:latin typeface="Baskerville Old Face" panose="02020602080505020303" pitchFamily="18" charset="0"/>
                  </a:rPr>
                  <a:t>Mean Handover Delay (H): </a:t>
                </a:r>
                <a:r>
                  <a:rPr lang="en-GB" noProof="0">
                    <a:latin typeface="Baskerville Old Face" panose="02020602080505020303" pitchFamily="18" charset="0"/>
                  </a:rPr>
                  <a:t>{0.3s, 0.7s, 1.1s}</a:t>
                </a:r>
              </a:p>
              <a:p>
                <a:pPr marL="342900" indent="-342900" algn="ctr">
                  <a:buFont typeface="Arial" panose="020B0604020202020204" pitchFamily="34" charset="0"/>
                  <a:buChar char="•"/>
                </a:pPr>
                <a:endParaRPr lang="en-GB" noProof="0">
                  <a:solidFill>
                    <a:srgbClr val="024572"/>
                  </a:solidFill>
                  <a:latin typeface="Baskerville Old Face" panose="02020602080505020303" pitchFamily="18" charset="0"/>
                </a:endParaRPr>
              </a:p>
              <a:p>
                <a:pPr algn="ctr"/>
                <a:r>
                  <a:rPr lang="en-GB" sz="2000" b="1" u="sng" noProof="0">
                    <a:solidFill>
                      <a:srgbClr val="024572"/>
                    </a:solidFill>
                    <a:latin typeface="Baskerville Old Face" panose="02020602080505020303" pitchFamily="18" charset="0"/>
                  </a:rPr>
                  <a:t>Warmup period</a:t>
                </a:r>
              </a:p>
              <a:p>
                <a:pPr algn="ctr"/>
                <a:endParaRPr lang="en-GB" sz="1000" b="1" u="sng" noProof="0">
                  <a:solidFill>
                    <a:srgbClr val="024572"/>
                  </a:solidFill>
                  <a:latin typeface="Baskerville Old Face" panose="02020602080505020303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16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𝑤𝑎𝑟𝑚𝑢𝑝</m:t>
                          </m:r>
                        </m:sub>
                      </m:sSub>
                      <m:r>
                        <a:rPr lang="en-GB" sz="16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GB" sz="16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GB" sz="16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6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  <m:r>
                                <a:rPr lang="en-GB" sz="16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GB" sz="16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 400</m:t>
                              </m:r>
                              <m:r>
                                <a:rPr lang="en-GB" sz="1600" b="0" i="1" noProof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func>
                      <m:r>
                        <a:rPr lang="en-GB" sz="16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=400</m:t>
                      </m:r>
                      <m:r>
                        <a:rPr lang="en-GB" sz="16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GB" sz="1600" noProof="0">
                  <a:solidFill>
                    <a:srgbClr val="024572"/>
                  </a:solidFill>
                  <a:latin typeface="Baskerville Old Face" panose="02020602080505020303" pitchFamily="18" charset="0"/>
                </a:endParaRPr>
              </a:p>
              <a:p>
                <a:pPr algn="ctr"/>
                <a:endParaRPr lang="en-GB" sz="1500" noProof="0">
                  <a:solidFill>
                    <a:srgbClr val="024572"/>
                  </a:solidFill>
                  <a:latin typeface="Baskerville Old Face" panose="02020602080505020303" pitchFamily="18" charset="0"/>
                </a:endParaRPr>
              </a:p>
              <a:p>
                <a:pPr algn="ctr"/>
                <a:r>
                  <a:rPr lang="en-GB" sz="2000" b="1" u="sng" noProof="0">
                    <a:solidFill>
                      <a:srgbClr val="024572"/>
                    </a:solidFill>
                    <a:latin typeface="Baskerville Old Face" panose="02020602080505020303" pitchFamily="18" charset="0"/>
                  </a:rPr>
                  <a:t>Simulation Time </a:t>
                </a:r>
              </a:p>
              <a:p>
                <a:pPr algn="ctr"/>
                <a:endParaRPr lang="en-GB" sz="1000" b="1" u="sng" noProof="0">
                  <a:solidFill>
                    <a:srgbClr val="024572"/>
                  </a:solidFill>
                  <a:latin typeface="Baskerville Old Face" panose="02020602080505020303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6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sz="16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𝑠𝑖𝑚𝑡𝑖𝑚𝑒</m:t>
                          </m:r>
                        </m:sub>
                      </m:sSub>
                      <m:r>
                        <a:rPr lang="en-GB" sz="16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=1800</m:t>
                      </m:r>
                      <m:r>
                        <a:rPr lang="en-GB" sz="16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en-GB" sz="1600" noProof="0">
                  <a:solidFill>
                    <a:srgbClr val="024572"/>
                  </a:solidFill>
                  <a:latin typeface="Baskerville Old Face" panose="02020602080505020303" pitchFamily="18" charset="0"/>
                </a:endParaRPr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3667B471-1461-AF3A-A130-46C607B99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910" y="1367284"/>
                <a:ext cx="5228122" cy="5038174"/>
              </a:xfrm>
              <a:prstGeom prst="rect">
                <a:avLst/>
              </a:prstGeom>
              <a:blipFill>
                <a:blip r:embed="rId3"/>
                <a:stretch>
                  <a:fillRect t="-605" b="-3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Elemento grafico 1">
            <a:extLst>
              <a:ext uri="{FF2B5EF4-FFF2-40B4-BE49-F238E27FC236}">
                <a16:creationId xmlns:a16="http://schemas.microsoft.com/office/drawing/2014/main" id="{28A26A60-5F78-FB59-18DB-F7C0CCB217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4706" y="1291152"/>
            <a:ext cx="5420025" cy="2794193"/>
          </a:xfrm>
          <a:prstGeom prst="rect">
            <a:avLst/>
          </a:prstGeom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B7A0048E-34A9-239C-A2F6-A7A8AD99C3C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4706" y="3817036"/>
            <a:ext cx="5438384" cy="281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609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E8617-FAB7-FBAC-1168-4B862D1B5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6EA6F610-728E-58D6-8DD7-0781CE633D5F}"/>
              </a:ext>
            </a:extLst>
          </p:cNvPr>
          <p:cNvSpPr/>
          <p:nvPr/>
        </p:nvSpPr>
        <p:spPr>
          <a:xfrm>
            <a:off x="337457" y="228600"/>
            <a:ext cx="11517086" cy="979714"/>
          </a:xfrm>
          <a:prstGeom prst="roundRect">
            <a:avLst/>
          </a:prstGeom>
          <a:solidFill>
            <a:srgbClr val="0245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4500" noProof="0">
                <a:solidFill>
                  <a:schemeClr val="bg1"/>
                </a:solidFill>
                <a:latin typeface="Baskerville Old Face"/>
              </a:rPr>
              <a:t>Experiments Design – Throughput Analysis</a:t>
            </a:r>
            <a:endParaRPr lang="en-GB" sz="4500" noProof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50C65DDD-6995-BD7D-42A0-F201E2CD1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60441" y="4001624"/>
            <a:ext cx="4471117" cy="2520000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9E0A74A2-A771-0193-F692-142739DAB0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3702" y="1344969"/>
            <a:ext cx="4464605" cy="2520000"/>
          </a:xfrm>
          <a:prstGeom prst="rect">
            <a:avLst/>
          </a:prstGeom>
        </p:spPr>
      </p:pic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647E0ACD-9604-2904-E21C-DA74B9C1CD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3693" y="1344969"/>
            <a:ext cx="4471118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023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DDB77-C15B-4E48-DADC-3D082989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3D581548-A316-FC44-AAF9-F14E26936DD8}"/>
              </a:ext>
            </a:extLst>
          </p:cNvPr>
          <p:cNvSpPr/>
          <p:nvPr/>
        </p:nvSpPr>
        <p:spPr>
          <a:xfrm>
            <a:off x="337457" y="228600"/>
            <a:ext cx="11517086" cy="979714"/>
          </a:xfrm>
          <a:prstGeom prst="roundRect">
            <a:avLst/>
          </a:prstGeom>
          <a:solidFill>
            <a:srgbClr val="0245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4500" noProof="0">
                <a:solidFill>
                  <a:schemeClr val="bg1"/>
                </a:solidFill>
                <a:latin typeface="Baskerville Old Face"/>
              </a:rPr>
              <a:t>Experiments Design – High Load Scenario</a:t>
            </a:r>
            <a:endParaRPr lang="en-GB" sz="4500" noProof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13" name="Elemento grafico 12">
            <a:extLst>
              <a:ext uri="{FF2B5EF4-FFF2-40B4-BE49-F238E27FC236}">
                <a16:creationId xmlns:a16="http://schemas.microsoft.com/office/drawing/2014/main" id="{0F8C19ED-5C76-06BF-788F-CBDD88A5B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1396" y="3973320"/>
            <a:ext cx="5069208" cy="2448000"/>
          </a:xfrm>
          <a:prstGeom prst="rect">
            <a:avLst/>
          </a:prstGeom>
        </p:spPr>
      </p:pic>
      <p:pic>
        <p:nvPicPr>
          <p:cNvPr id="15" name="Elemento grafico 14">
            <a:extLst>
              <a:ext uri="{FF2B5EF4-FFF2-40B4-BE49-F238E27FC236}">
                <a16:creationId xmlns:a16="http://schemas.microsoft.com/office/drawing/2014/main" id="{6BE64F0E-BF0F-CC26-6B54-F5120AE15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7757" y="1402067"/>
            <a:ext cx="5066737" cy="2448000"/>
          </a:xfrm>
          <a:prstGeom prst="rect">
            <a:avLst/>
          </a:prstGeom>
        </p:spPr>
      </p:pic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92D2EFBA-982D-DE74-19C8-5A044A8E9E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5196" y="1402067"/>
            <a:ext cx="5069049" cy="24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68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9BAE6-365B-AE09-23DC-09ECF2DAB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C5C9CD6-3FFC-6255-DD08-150484F987A3}"/>
              </a:ext>
            </a:extLst>
          </p:cNvPr>
          <p:cNvSpPr/>
          <p:nvPr/>
        </p:nvSpPr>
        <p:spPr>
          <a:xfrm>
            <a:off x="337457" y="228600"/>
            <a:ext cx="11517086" cy="979714"/>
          </a:xfrm>
          <a:prstGeom prst="roundRect">
            <a:avLst/>
          </a:prstGeom>
          <a:solidFill>
            <a:srgbClr val="0245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4500" noProof="0">
                <a:solidFill>
                  <a:schemeClr val="bg1"/>
                </a:solidFill>
                <a:latin typeface="Baskerville Old Face"/>
              </a:rPr>
              <a:t>Experiments Design – Response Time Analysis</a:t>
            </a:r>
            <a:endParaRPr lang="en-GB" sz="4500" noProof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3" name="Elemento grafico 2">
            <a:extLst>
              <a:ext uri="{FF2B5EF4-FFF2-40B4-BE49-F238E27FC236}">
                <a16:creationId xmlns:a16="http://schemas.microsoft.com/office/drawing/2014/main" id="{8A984EC0-0EDC-9936-FF90-C1893575EC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05637" y="1310265"/>
            <a:ext cx="4030736" cy="2520000"/>
          </a:xfrm>
          <a:prstGeom prst="rect">
            <a:avLst/>
          </a:prstGeom>
        </p:spPr>
      </p:pic>
      <p:pic>
        <p:nvPicPr>
          <p:cNvPr id="7" name="Elemento grafico 6">
            <a:extLst>
              <a:ext uri="{FF2B5EF4-FFF2-40B4-BE49-F238E27FC236}">
                <a16:creationId xmlns:a16="http://schemas.microsoft.com/office/drawing/2014/main" id="{26D9FE8F-BA94-887D-7399-233974A40E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86300" y="3932216"/>
            <a:ext cx="4019400" cy="2520000"/>
          </a:xfrm>
          <a:prstGeom prst="rect">
            <a:avLst/>
          </a:prstGeom>
        </p:spPr>
      </p:pic>
      <p:pic>
        <p:nvPicPr>
          <p:cNvPr id="11" name="Elemento grafico 10">
            <a:extLst>
              <a:ext uri="{FF2B5EF4-FFF2-40B4-BE49-F238E27FC236}">
                <a16:creationId xmlns:a16="http://schemas.microsoft.com/office/drawing/2014/main" id="{3A640763-F09B-6C23-2AC4-E54DE77EFE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669445" y="1310265"/>
            <a:ext cx="4000997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29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BE4D6-DE2C-500C-11A8-9B15679E4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2D1F4B30-F539-E86E-EC68-A1DA67A9829D}"/>
              </a:ext>
            </a:extLst>
          </p:cNvPr>
          <p:cNvSpPr/>
          <p:nvPr/>
        </p:nvSpPr>
        <p:spPr>
          <a:xfrm>
            <a:off x="337457" y="228600"/>
            <a:ext cx="11517086" cy="979714"/>
          </a:xfrm>
          <a:prstGeom prst="roundRect">
            <a:avLst/>
          </a:prstGeom>
          <a:solidFill>
            <a:srgbClr val="0245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4500" noProof="0">
                <a:solidFill>
                  <a:schemeClr val="bg1"/>
                </a:solidFill>
                <a:latin typeface="Baskerville Old Face"/>
              </a:rPr>
              <a:t>Experiments Design – Bell Analysis</a:t>
            </a:r>
            <a:endParaRPr lang="en-GB" sz="4500" noProof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E18E2209-3FDE-5232-2EE3-EF9AC1B6B1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59406" y="3785831"/>
            <a:ext cx="6001281" cy="2952000"/>
          </a:xfrm>
          <a:prstGeom prst="rect">
            <a:avLst/>
          </a:prstGeom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B702D25E-D521-6B12-C2D4-6BC77AA5D7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1953" y="1308923"/>
            <a:ext cx="6129886" cy="295200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2491122F-F485-873A-A3FE-5CA1FF60847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14233"/>
          <a:stretch>
            <a:fillRect/>
          </a:stretch>
        </p:blipFill>
        <p:spPr>
          <a:xfrm>
            <a:off x="7044047" y="2018051"/>
            <a:ext cx="4032000" cy="1321915"/>
          </a:xfrm>
          <a:prstGeom prst="rect">
            <a:avLst/>
          </a:prstGeom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2C9B2036-372C-5BD4-A526-686E4815021D}"/>
              </a:ext>
            </a:extLst>
          </p:cNvPr>
          <p:cNvSpPr txBox="1"/>
          <p:nvPr/>
        </p:nvSpPr>
        <p:spPr>
          <a:xfrm>
            <a:off x="7911335" y="1617941"/>
            <a:ext cx="2297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u="sng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Factors Bell Analysis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C5CADD22-90AF-BBDC-8AA9-8A32617B417C}"/>
              </a:ext>
            </a:extLst>
          </p:cNvPr>
          <p:cNvSpPr txBox="1"/>
          <p:nvPr/>
        </p:nvSpPr>
        <p:spPr>
          <a:xfrm>
            <a:off x="765629" y="4365957"/>
            <a:ext cx="504253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u="sng" noProof="0">
                <a:solidFill>
                  <a:srgbClr val="024572"/>
                </a:solidFill>
                <a:latin typeface="Baskerville Old Face" panose="02020602080505020303" pitchFamily="18" charset="0"/>
              </a:rPr>
              <a:t>Interesting Observations</a:t>
            </a:r>
          </a:p>
          <a:p>
            <a:pPr algn="ctr"/>
            <a:endParaRPr lang="en-GB" sz="1000" u="sng" noProof="0">
              <a:solidFill>
                <a:srgbClr val="024572"/>
              </a:solidFill>
              <a:latin typeface="Baskerville Old Face" panose="02020602080505020303" pitchFamily="18" charset="0"/>
            </a:endParaRPr>
          </a:p>
          <a:p>
            <a:pPr marL="342900" indent="-342900" algn="just">
              <a:buClr>
                <a:srgbClr val="024572"/>
              </a:buClr>
              <a:buFont typeface="Arial" panose="020B0604020202020204" pitchFamily="34" charset="0"/>
              <a:buChar char="•"/>
            </a:pPr>
            <a:r>
              <a:rPr lang="en-GB" sz="1700" noProof="0">
                <a:latin typeface="Baskerville Old Face" panose="02020602080505020303" pitchFamily="18" charset="0"/>
              </a:rPr>
              <a:t>The peaks shift to the left as the mean handover delay increases</a:t>
            </a:r>
          </a:p>
          <a:p>
            <a:pPr marL="342900" indent="-342900" algn="just">
              <a:buClr>
                <a:srgbClr val="024572"/>
              </a:buClr>
              <a:buFont typeface="Arial" panose="020B0604020202020204" pitchFamily="34" charset="0"/>
              <a:buChar char="•"/>
            </a:pPr>
            <a:r>
              <a:rPr lang="en-GB" sz="1700" noProof="0">
                <a:latin typeface="Baskerville Old Face" panose="02020602080505020303" pitchFamily="18" charset="0"/>
              </a:rPr>
              <a:t>Non-linear behaviour up to the peak, followed by a linear trend</a:t>
            </a:r>
            <a:endParaRPr lang="en-GB" sz="1000" noProof="0">
              <a:latin typeface="Baskerville Old Face" panose="02020602080505020303" pitchFamily="18" charset="0"/>
            </a:endParaRPr>
          </a:p>
          <a:p>
            <a:pPr marL="342900" indent="-342900" algn="just">
              <a:buClr>
                <a:srgbClr val="024572"/>
              </a:buClr>
              <a:buFont typeface="Arial" panose="020B0604020202020204" pitchFamily="34" charset="0"/>
              <a:buChar char="•"/>
            </a:pPr>
            <a:r>
              <a:rPr lang="en-GB" sz="1700" noProof="0">
                <a:latin typeface="Baskerville Old Face" panose="02020602080505020303" pitchFamily="18" charset="0"/>
              </a:rPr>
              <a:t>With a huge number of base stations, transmission stops altogether</a:t>
            </a:r>
          </a:p>
        </p:txBody>
      </p:sp>
    </p:spTree>
    <p:extLst>
      <p:ext uri="{BB962C8B-B14F-4D97-AF65-F5344CB8AC3E}">
        <p14:creationId xmlns:p14="http://schemas.microsoft.com/office/powerpoint/2010/main" val="1858595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55532-4B29-D1D6-AB04-86E86D32B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1CA917E0-9F02-DF1F-5D0C-64199CDDE9F8}"/>
              </a:ext>
            </a:extLst>
          </p:cNvPr>
          <p:cNvSpPr/>
          <p:nvPr/>
        </p:nvSpPr>
        <p:spPr>
          <a:xfrm>
            <a:off x="337457" y="228600"/>
            <a:ext cx="11517086" cy="979714"/>
          </a:xfrm>
          <a:prstGeom prst="roundRect">
            <a:avLst/>
          </a:prstGeom>
          <a:solidFill>
            <a:srgbClr val="0245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4500" noProof="0">
                <a:solidFill>
                  <a:schemeClr val="bg1"/>
                </a:solidFill>
                <a:latin typeface="Baskerville Old Face"/>
              </a:rPr>
              <a:t>Conclusions</a:t>
            </a:r>
            <a:endParaRPr lang="en-GB" sz="4500" noProof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1CB4CAF-3C87-0298-64E5-72E5BA465AB6}"/>
              </a:ext>
            </a:extLst>
          </p:cNvPr>
          <p:cNvSpPr txBox="1"/>
          <p:nvPr/>
        </p:nvSpPr>
        <p:spPr>
          <a:xfrm>
            <a:off x="782056" y="1752151"/>
            <a:ext cx="10627888" cy="44781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it-IT" err="1">
                <a:latin typeface="Baskerville Old Face"/>
                <a:ea typeface="+mn-lt"/>
                <a:cs typeface="+mn-lt"/>
              </a:rPr>
              <a:t>This</a:t>
            </a:r>
            <a:r>
              <a:rPr lang="it-IT">
                <a:latin typeface="Baskerville Old Face"/>
                <a:ea typeface="+mn-lt"/>
                <a:cs typeface="+mn-lt"/>
              </a:rPr>
              <a:t> study </a:t>
            </a:r>
            <a:r>
              <a:rPr lang="it-IT" err="1">
                <a:latin typeface="Baskerville Old Face"/>
                <a:ea typeface="+mn-lt"/>
                <a:cs typeface="+mn-lt"/>
              </a:rPr>
              <a:t>provided</a:t>
            </a:r>
            <a:r>
              <a:rPr lang="it-IT">
                <a:latin typeface="Baskerville Old Face"/>
                <a:ea typeface="+mn-lt"/>
                <a:cs typeface="+mn-lt"/>
              </a:rPr>
              <a:t> an </a:t>
            </a:r>
            <a:r>
              <a:rPr lang="it-IT" err="1">
                <a:latin typeface="Baskerville Old Face"/>
                <a:ea typeface="+mn-lt"/>
                <a:cs typeface="+mn-lt"/>
              </a:rPr>
              <a:t>analysis</a:t>
            </a:r>
            <a:r>
              <a:rPr lang="it-IT">
                <a:latin typeface="Baskerville Old Face"/>
                <a:ea typeface="+mn-lt"/>
                <a:cs typeface="+mn-lt"/>
              </a:rPr>
              <a:t> of 5G </a:t>
            </a:r>
            <a:r>
              <a:rPr lang="it-IT" err="1">
                <a:latin typeface="Baskerville Old Face"/>
                <a:ea typeface="+mn-lt"/>
                <a:cs typeface="+mn-lt"/>
              </a:rPr>
              <a:t>Connected</a:t>
            </a:r>
            <a:r>
              <a:rPr lang="it-IT">
                <a:latin typeface="Baskerville Old Face"/>
                <a:ea typeface="+mn-lt"/>
                <a:cs typeface="+mn-lt"/>
              </a:rPr>
              <a:t> High-Speed Train, </a:t>
            </a:r>
            <a:r>
              <a:rPr lang="it-IT" err="1">
                <a:latin typeface="Baskerville Old Face"/>
                <a:ea typeface="+mn-lt"/>
                <a:cs typeface="+mn-lt"/>
              </a:rPr>
              <a:t>highlighting</a:t>
            </a:r>
            <a:r>
              <a:rPr lang="it-IT">
                <a:latin typeface="Baskerville Old Face"/>
                <a:ea typeface="+mn-lt"/>
                <a:cs typeface="+mn-lt"/>
              </a:rPr>
              <a:t> the </a:t>
            </a:r>
            <a:r>
              <a:rPr lang="it-IT" err="1">
                <a:latin typeface="Baskerville Old Face"/>
                <a:ea typeface="+mn-lt"/>
                <a:cs typeface="+mn-lt"/>
              </a:rPr>
              <a:t>critical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need</a:t>
            </a:r>
            <a:r>
              <a:rPr lang="it-IT">
                <a:latin typeface="Baskerville Old Face"/>
                <a:ea typeface="+mn-lt"/>
                <a:cs typeface="+mn-lt"/>
              </a:rPr>
              <a:t> to balance </a:t>
            </a:r>
            <a:r>
              <a:rPr lang="it-IT" err="1">
                <a:latin typeface="Baskerville Old Face"/>
                <a:ea typeface="+mn-lt"/>
                <a:cs typeface="+mn-lt"/>
              </a:rPr>
              <a:t>infrastructure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sizing</a:t>
            </a:r>
            <a:r>
              <a:rPr lang="it-IT">
                <a:latin typeface="Baskerville Old Face"/>
                <a:ea typeface="+mn-lt"/>
                <a:cs typeface="+mn-lt"/>
              </a:rPr>
              <a:t> (the </a:t>
            </a:r>
            <a:r>
              <a:rPr lang="it-IT" err="1">
                <a:latin typeface="Baskerville Old Face"/>
                <a:ea typeface="+mn-lt"/>
                <a:cs typeface="+mn-lt"/>
              </a:rPr>
              <a:t>number</a:t>
            </a:r>
            <a:r>
              <a:rPr lang="it-IT">
                <a:latin typeface="Baskerville Old Face"/>
                <a:ea typeface="+mn-lt"/>
                <a:cs typeface="+mn-lt"/>
              </a:rPr>
              <a:t> of base stations) with the delay </a:t>
            </a:r>
            <a:r>
              <a:rPr lang="it-IT" err="1">
                <a:latin typeface="Baskerville Old Face"/>
                <a:ea typeface="+mn-lt"/>
                <a:cs typeface="+mn-lt"/>
              </a:rPr>
              <a:t>introduced</a:t>
            </a:r>
            <a:r>
              <a:rPr lang="it-IT">
                <a:latin typeface="Baskerville Old Face"/>
                <a:ea typeface="+mn-lt"/>
                <a:cs typeface="+mn-lt"/>
              </a:rPr>
              <a:t> by handover </a:t>
            </a:r>
            <a:r>
              <a:rPr lang="it-IT" err="1">
                <a:latin typeface="Baskerville Old Face"/>
                <a:ea typeface="+mn-lt"/>
                <a:cs typeface="+mn-lt"/>
              </a:rPr>
              <a:t>operations</a:t>
            </a:r>
            <a:r>
              <a:rPr lang="it-IT">
                <a:latin typeface="Baskerville Old Face"/>
                <a:ea typeface="+mn-lt"/>
                <a:cs typeface="+mn-lt"/>
              </a:rPr>
              <a:t>. </a:t>
            </a:r>
          </a:p>
          <a:p>
            <a:pPr algn="just"/>
            <a:endParaRPr lang="it-IT">
              <a:latin typeface="Baskerville Old Face"/>
            </a:endParaRPr>
          </a:p>
          <a:p>
            <a:pPr marL="285750" indent="-285750" algn="just">
              <a:buFont typeface="Arial"/>
              <a:buChar char="•"/>
            </a:pPr>
            <a:r>
              <a:rPr lang="it-IT" b="1">
                <a:solidFill>
                  <a:srgbClr val="024572"/>
                </a:solidFill>
                <a:latin typeface="Baskerville Old Face"/>
              </a:rPr>
              <a:t>Low Load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it-IT">
                <a:latin typeface="Baskerville Old Face"/>
                <a:ea typeface="+mn-lt"/>
                <a:cs typeface="+mn-lt"/>
              </a:rPr>
              <a:t>The system </a:t>
            </a:r>
            <a:r>
              <a:rPr lang="it-IT" err="1">
                <a:latin typeface="Baskerville Old Face"/>
                <a:ea typeface="+mn-lt"/>
                <a:cs typeface="+mn-lt"/>
              </a:rPr>
              <a:t>remains</a:t>
            </a:r>
            <a:r>
              <a:rPr lang="it-IT">
                <a:latin typeface="Baskerville Old Face"/>
                <a:ea typeface="+mn-lt"/>
                <a:cs typeface="+mn-lt"/>
              </a:rPr>
              <a:t> stable and throughput </a:t>
            </a:r>
            <a:r>
              <a:rPr lang="it-IT" err="1">
                <a:latin typeface="Baskerville Old Face"/>
                <a:ea typeface="+mn-lt"/>
                <a:cs typeface="+mn-lt"/>
              </a:rPr>
              <a:t>depends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almost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exclusively</a:t>
            </a:r>
            <a:r>
              <a:rPr lang="it-IT">
                <a:latin typeface="Baskerville Old Face"/>
                <a:ea typeface="+mn-lt"/>
                <a:cs typeface="+mn-lt"/>
              </a:rPr>
              <a:t> on the input rate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it-IT">
                <a:latin typeface="Baskerville Old Face"/>
                <a:ea typeface="+mn-lt"/>
                <a:cs typeface="+mn-lt"/>
              </a:rPr>
              <a:t>The throughput </a:t>
            </a:r>
            <a:r>
              <a:rPr lang="it-IT" err="1">
                <a:latin typeface="Baskerville Old Face"/>
                <a:ea typeface="+mn-lt"/>
                <a:cs typeface="+mn-lt"/>
              </a:rPr>
              <a:t>is</a:t>
            </a:r>
            <a:r>
              <a:rPr lang="it-IT">
                <a:latin typeface="Baskerville Old Face"/>
                <a:ea typeface="+mn-lt"/>
                <a:cs typeface="+mn-lt"/>
              </a:rPr>
              <a:t> a </a:t>
            </a:r>
            <a:r>
              <a:rPr lang="it-IT" err="1">
                <a:latin typeface="Baskerville Old Face"/>
                <a:ea typeface="+mn-lt"/>
                <a:cs typeface="+mn-lt"/>
              </a:rPr>
              <a:t>function</a:t>
            </a:r>
            <a:r>
              <a:rPr lang="it-IT">
                <a:latin typeface="Baskerville Old Face"/>
                <a:ea typeface="+mn-lt"/>
                <a:cs typeface="+mn-lt"/>
              </a:rPr>
              <a:t> of the </a:t>
            </a:r>
            <a:r>
              <a:rPr lang="it-IT" err="1">
                <a:latin typeface="Baskerville Old Face"/>
                <a:ea typeface="+mn-lt"/>
                <a:cs typeface="+mn-lt"/>
              </a:rPr>
              <a:t>number</a:t>
            </a:r>
            <a:r>
              <a:rPr lang="it-IT">
                <a:latin typeface="Baskerville Old Face"/>
                <a:ea typeface="+mn-lt"/>
                <a:cs typeface="+mn-lt"/>
              </a:rPr>
              <a:t> of </a:t>
            </a:r>
            <a:r>
              <a:rPr lang="it-IT" err="1">
                <a:latin typeface="Baskerville Old Face"/>
                <a:ea typeface="+mn-lt"/>
                <a:cs typeface="+mn-lt"/>
              </a:rPr>
              <a:t>passengers</a:t>
            </a:r>
            <a:r>
              <a:rPr lang="it-IT">
                <a:latin typeface="Baskerville Old Face"/>
                <a:ea typeface="+mn-lt"/>
                <a:cs typeface="+mn-lt"/>
              </a:rPr>
              <a:t> (N)</a:t>
            </a:r>
            <a:endParaRPr lang="it-IT"/>
          </a:p>
          <a:p>
            <a:pPr lvl="1" algn="just"/>
            <a:endParaRPr lang="it-IT" sz="1500">
              <a:latin typeface="Baskerville Old Face"/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it-IT" b="1">
                <a:solidFill>
                  <a:srgbClr val="024572"/>
                </a:solidFill>
                <a:latin typeface="Baskerville Old Face"/>
                <a:ea typeface="+mn-lt"/>
                <a:cs typeface="+mn-lt"/>
              </a:rPr>
              <a:t>High Load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it-IT">
                <a:latin typeface="Baskerville Old Face"/>
                <a:ea typeface="+mn-lt"/>
                <a:cs typeface="+mn-lt"/>
              </a:rPr>
              <a:t>The system </a:t>
            </a:r>
            <a:r>
              <a:rPr lang="it-IT" err="1">
                <a:latin typeface="Baskerville Old Face"/>
                <a:ea typeface="+mn-lt"/>
                <a:cs typeface="+mn-lt"/>
              </a:rPr>
              <a:t>reaches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saturation</a:t>
            </a:r>
            <a:r>
              <a:rPr lang="it-IT">
                <a:latin typeface="Baskerville Old Face"/>
                <a:ea typeface="+mn-lt"/>
                <a:cs typeface="+mn-lt"/>
              </a:rPr>
              <a:t>, with throughput limited by the maximum transmission </a:t>
            </a:r>
            <a:r>
              <a:rPr lang="it-IT" err="1">
                <a:latin typeface="Baskerville Old Face"/>
                <a:ea typeface="+mn-lt"/>
                <a:cs typeface="+mn-lt"/>
              </a:rPr>
              <a:t>capacity</a:t>
            </a:r>
            <a:endParaRPr lang="it-IT">
              <a:latin typeface="Baskerville Old Face"/>
              <a:ea typeface="+mn-lt"/>
              <a:cs typeface="+mn-lt"/>
            </a:endParaRP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it-IT" err="1">
                <a:latin typeface="Baskerville Old Face"/>
                <a:ea typeface="+mn-lt"/>
                <a:cs typeface="+mn-lt"/>
              </a:rPr>
              <a:t>Increasing</a:t>
            </a:r>
            <a:r>
              <a:rPr lang="it-IT">
                <a:latin typeface="Baskerville Old Face"/>
                <a:ea typeface="+mn-lt"/>
                <a:cs typeface="+mn-lt"/>
              </a:rPr>
              <a:t> the </a:t>
            </a:r>
            <a:r>
              <a:rPr lang="it-IT" err="1">
                <a:latin typeface="Baskerville Old Face"/>
                <a:ea typeface="+mn-lt"/>
                <a:cs typeface="+mn-lt"/>
              </a:rPr>
              <a:t>number</a:t>
            </a:r>
            <a:r>
              <a:rPr lang="it-IT">
                <a:latin typeface="Baskerville Old Face"/>
                <a:ea typeface="+mn-lt"/>
                <a:cs typeface="+mn-lt"/>
              </a:rPr>
              <a:t> of base stations </a:t>
            </a:r>
            <a:r>
              <a:rPr lang="it-IT" err="1">
                <a:latin typeface="Baskerville Old Face"/>
                <a:ea typeface="+mn-lt"/>
                <a:cs typeface="+mn-lt"/>
              </a:rPr>
              <a:t>improves</a:t>
            </a:r>
            <a:r>
              <a:rPr lang="it-IT">
                <a:latin typeface="Baskerville Old Face"/>
                <a:ea typeface="+mn-lt"/>
                <a:cs typeface="+mn-lt"/>
              </a:rPr>
              <a:t> performance </a:t>
            </a:r>
            <a:r>
              <a:rPr lang="it-IT" err="1">
                <a:latin typeface="Baskerville Old Face"/>
                <a:ea typeface="+mn-lt"/>
                <a:cs typeface="+mn-lt"/>
              </a:rPr>
              <a:t>only</a:t>
            </a:r>
            <a:r>
              <a:rPr lang="it-IT">
                <a:latin typeface="Baskerville Old Face"/>
                <a:ea typeface="+mn-lt"/>
                <a:cs typeface="+mn-lt"/>
              </a:rPr>
              <a:t> up to an </a:t>
            </a:r>
            <a:r>
              <a:rPr lang="it-IT" err="1">
                <a:latin typeface="Baskerville Old Face"/>
                <a:ea typeface="+mn-lt"/>
                <a:cs typeface="+mn-lt"/>
              </a:rPr>
              <a:t>optimal</a:t>
            </a:r>
            <a:r>
              <a:rPr lang="it-IT">
                <a:latin typeface="Baskerville Old Face"/>
                <a:ea typeface="+mn-lt"/>
                <a:cs typeface="+mn-lt"/>
              </a:rPr>
              <a:t> point, after </a:t>
            </a:r>
            <a:r>
              <a:rPr lang="it-IT" err="1">
                <a:latin typeface="Baskerville Old Face"/>
                <a:ea typeface="+mn-lt"/>
                <a:cs typeface="+mn-lt"/>
              </a:rPr>
              <a:t>which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diminishing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returns</a:t>
            </a:r>
            <a:r>
              <a:rPr lang="it-IT">
                <a:latin typeface="Baskerville Old Face"/>
                <a:ea typeface="+mn-lt"/>
                <a:cs typeface="+mn-lt"/>
              </a:rPr>
              <a:t> are </a:t>
            </a:r>
            <a:r>
              <a:rPr lang="it-IT" err="1">
                <a:latin typeface="Baskerville Old Face"/>
                <a:ea typeface="+mn-lt"/>
                <a:cs typeface="+mn-lt"/>
              </a:rPr>
              <a:t>observed</a:t>
            </a:r>
            <a:r>
              <a:rPr lang="it-IT">
                <a:latin typeface="Baskerville Old Face"/>
                <a:ea typeface="+mn-lt"/>
                <a:cs typeface="+mn-lt"/>
              </a:rPr>
              <a:t>. </a:t>
            </a:r>
            <a:endParaRPr lang="it-IT">
              <a:latin typeface="Aptos" panose="02110004020202020204"/>
              <a:ea typeface="+mn-lt"/>
              <a:cs typeface="+mn-lt"/>
            </a:endParaRP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it-IT" err="1">
                <a:latin typeface="Baskerville Old Face"/>
                <a:ea typeface="+mn-lt"/>
                <a:cs typeface="+mn-lt"/>
              </a:rPr>
              <a:t>As</a:t>
            </a:r>
            <a:r>
              <a:rPr lang="it-IT">
                <a:latin typeface="Baskerville Old Face"/>
                <a:ea typeface="+mn-lt"/>
                <a:cs typeface="+mn-lt"/>
              </a:rPr>
              <a:t> the </a:t>
            </a:r>
            <a:r>
              <a:rPr lang="it-IT" err="1">
                <a:latin typeface="Baskerville Old Face"/>
                <a:ea typeface="+mn-lt"/>
                <a:cs typeface="+mn-lt"/>
              </a:rPr>
              <a:t>mean</a:t>
            </a:r>
            <a:r>
              <a:rPr lang="it-IT">
                <a:latin typeface="Baskerville Old Face"/>
                <a:ea typeface="+mn-lt"/>
                <a:cs typeface="+mn-lt"/>
              </a:rPr>
              <a:t> handover delay (H) </a:t>
            </a:r>
            <a:r>
              <a:rPr lang="it-IT" err="1">
                <a:latin typeface="Baskerville Old Face"/>
                <a:ea typeface="+mn-lt"/>
                <a:cs typeface="+mn-lt"/>
              </a:rPr>
              <a:t>increases</a:t>
            </a:r>
            <a:r>
              <a:rPr lang="it-IT">
                <a:latin typeface="Baskerville Old Face"/>
                <a:ea typeface="+mn-lt"/>
                <a:cs typeface="+mn-lt"/>
              </a:rPr>
              <a:t>, the </a:t>
            </a:r>
            <a:r>
              <a:rPr lang="it-IT" err="1">
                <a:latin typeface="Baskerville Old Face"/>
                <a:ea typeface="+mn-lt"/>
                <a:cs typeface="+mn-lt"/>
              </a:rPr>
              <a:t>peak</a:t>
            </a:r>
            <a:r>
              <a:rPr lang="it-IT">
                <a:latin typeface="Baskerville Old Face"/>
                <a:ea typeface="+mn-lt"/>
                <a:cs typeface="+mn-lt"/>
              </a:rPr>
              <a:t> performance shifts </a:t>
            </a:r>
            <a:r>
              <a:rPr lang="it-IT" err="1">
                <a:latin typeface="Baskerville Old Face"/>
                <a:ea typeface="+mn-lt"/>
                <a:cs typeface="+mn-lt"/>
              </a:rPr>
              <a:t>towards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configurations</a:t>
            </a:r>
            <a:r>
              <a:rPr lang="it-IT">
                <a:latin typeface="Baskerville Old Face"/>
                <a:ea typeface="+mn-lt"/>
                <a:cs typeface="+mn-lt"/>
              </a:rPr>
              <a:t> with </a:t>
            </a:r>
            <a:r>
              <a:rPr lang="it-IT" err="1">
                <a:latin typeface="Baskerville Old Face"/>
                <a:ea typeface="+mn-lt"/>
                <a:cs typeface="+mn-lt"/>
              </a:rPr>
              <a:t>fewer</a:t>
            </a:r>
            <a:r>
              <a:rPr lang="it-IT">
                <a:latin typeface="Baskerville Old Face"/>
                <a:ea typeface="+mn-lt"/>
                <a:cs typeface="+mn-lt"/>
              </a:rPr>
              <a:t> base stations.</a:t>
            </a:r>
            <a:endParaRPr lang="it-IT"/>
          </a:p>
          <a:p>
            <a:pPr marL="742950" lvl="1" indent="-285750" algn="just">
              <a:buFont typeface="Arial"/>
              <a:buChar char="•"/>
            </a:pPr>
            <a:endParaRPr lang="it-IT">
              <a:latin typeface="Baskerville Old Face"/>
              <a:ea typeface="+mn-lt"/>
              <a:cs typeface="+mn-lt"/>
            </a:endParaRPr>
          </a:p>
          <a:p>
            <a:pPr algn="just"/>
            <a:r>
              <a:rPr lang="it-IT">
                <a:latin typeface="Baskerville Old Face"/>
                <a:ea typeface="+mn-lt"/>
                <a:cs typeface="+mn-lt"/>
              </a:rPr>
              <a:t>The </a:t>
            </a:r>
            <a:r>
              <a:rPr lang="it-IT" err="1">
                <a:latin typeface="Baskerville Old Face"/>
                <a:ea typeface="+mn-lt"/>
                <a:cs typeface="+mn-lt"/>
              </a:rPr>
              <a:t>simulations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confirm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that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there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is</a:t>
            </a:r>
            <a:r>
              <a:rPr lang="it-IT">
                <a:latin typeface="Baskerville Old Face"/>
                <a:ea typeface="+mn-lt"/>
                <a:cs typeface="+mn-lt"/>
              </a:rPr>
              <a:t> no single </a:t>
            </a:r>
            <a:r>
              <a:rPr lang="it-IT" err="1">
                <a:latin typeface="Baskerville Old Face"/>
                <a:ea typeface="+mn-lt"/>
                <a:cs typeface="+mn-lt"/>
              </a:rPr>
              <a:t>absolute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optimal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configuration</a:t>
            </a:r>
            <a:r>
              <a:rPr lang="it-IT">
                <a:latin typeface="Baskerville Old Face"/>
                <a:ea typeface="+mn-lt"/>
                <a:cs typeface="+mn-lt"/>
              </a:rPr>
              <a:t>. </a:t>
            </a:r>
            <a:r>
              <a:rPr lang="it-IT" err="1">
                <a:latin typeface="Baskerville Old Face"/>
                <a:ea typeface="+mn-lt"/>
                <a:cs typeface="+mn-lt"/>
              </a:rPr>
              <a:t>Maximizing</a:t>
            </a:r>
            <a:r>
              <a:rPr lang="it-IT">
                <a:latin typeface="Baskerville Old Face"/>
                <a:ea typeface="+mn-lt"/>
                <a:cs typeface="+mn-lt"/>
              </a:rPr>
              <a:t> throughput and </a:t>
            </a:r>
            <a:r>
              <a:rPr lang="it-IT" err="1">
                <a:latin typeface="Baskerville Old Face"/>
                <a:ea typeface="+mn-lt"/>
                <a:cs typeface="+mn-lt"/>
              </a:rPr>
              <a:t>minimizing</a:t>
            </a:r>
            <a:r>
              <a:rPr lang="it-IT">
                <a:latin typeface="Baskerville Old Face"/>
                <a:ea typeface="+mn-lt"/>
                <a:cs typeface="+mn-lt"/>
              </a:rPr>
              <a:t> </a:t>
            </a:r>
            <a:r>
              <a:rPr lang="it-IT" err="1">
                <a:latin typeface="Baskerville Old Face"/>
                <a:ea typeface="+mn-lt"/>
                <a:cs typeface="+mn-lt"/>
              </a:rPr>
              <a:t>response</a:t>
            </a:r>
            <a:r>
              <a:rPr lang="it-IT">
                <a:latin typeface="Baskerville Old Face"/>
                <a:ea typeface="+mn-lt"/>
                <a:cs typeface="+mn-lt"/>
              </a:rPr>
              <a:t> times </a:t>
            </a:r>
            <a:r>
              <a:rPr lang="it-IT" err="1">
                <a:latin typeface="Baskerville Old Face"/>
                <a:ea typeface="+mn-lt"/>
                <a:cs typeface="+mn-lt"/>
              </a:rPr>
              <a:t>requires</a:t>
            </a:r>
            <a:r>
              <a:rPr lang="it-IT">
                <a:latin typeface="Baskerville Old Face"/>
                <a:ea typeface="+mn-lt"/>
                <a:cs typeface="+mn-lt"/>
              </a:rPr>
              <a:t> a trade-off </a:t>
            </a:r>
            <a:r>
              <a:rPr lang="it-IT" err="1">
                <a:latin typeface="Baskerville Old Face"/>
                <a:ea typeface="+mn-lt"/>
                <a:cs typeface="+mn-lt"/>
              </a:rPr>
              <a:t>between</a:t>
            </a:r>
            <a:r>
              <a:rPr lang="it-IT">
                <a:latin typeface="Baskerville Old Face"/>
                <a:ea typeface="+mn-lt"/>
                <a:cs typeface="+mn-lt"/>
              </a:rPr>
              <a:t> the </a:t>
            </a:r>
            <a:r>
              <a:rPr lang="it-IT" err="1">
                <a:latin typeface="Baskerville Old Face"/>
                <a:ea typeface="+mn-lt"/>
                <a:cs typeface="+mn-lt"/>
              </a:rPr>
              <a:t>number</a:t>
            </a:r>
            <a:r>
              <a:rPr lang="it-IT">
                <a:latin typeface="Baskerville Old Face"/>
                <a:ea typeface="+mn-lt"/>
                <a:cs typeface="+mn-lt"/>
              </a:rPr>
              <a:t> of </a:t>
            </a:r>
            <a:r>
              <a:rPr lang="it-IT" err="1">
                <a:latin typeface="Baskerville Old Face"/>
                <a:ea typeface="+mn-lt"/>
                <a:cs typeface="+mn-lt"/>
              </a:rPr>
              <a:t>BSs</a:t>
            </a:r>
            <a:r>
              <a:rPr lang="it-IT">
                <a:latin typeface="Baskerville Old Face"/>
                <a:ea typeface="+mn-lt"/>
                <a:cs typeface="+mn-lt"/>
              </a:rPr>
              <a:t> and handover frequency.</a:t>
            </a:r>
            <a:endParaRPr lang="it-IT">
              <a:latin typeface="Baskerville Old Face"/>
            </a:endParaRPr>
          </a:p>
        </p:txBody>
      </p:sp>
    </p:spTree>
    <p:extLst>
      <p:ext uri="{BB962C8B-B14F-4D97-AF65-F5344CB8AC3E}">
        <p14:creationId xmlns:p14="http://schemas.microsoft.com/office/powerpoint/2010/main" val="3501946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BF367-923D-C7F2-6522-6CBB64885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0207921C-2734-11BA-DF2D-430EFEDC122D}"/>
              </a:ext>
            </a:extLst>
          </p:cNvPr>
          <p:cNvSpPr/>
          <p:nvPr/>
        </p:nvSpPr>
        <p:spPr>
          <a:xfrm>
            <a:off x="337457" y="2405743"/>
            <a:ext cx="11517086" cy="2046514"/>
          </a:xfrm>
          <a:prstGeom prst="roundRect">
            <a:avLst/>
          </a:prstGeom>
          <a:solidFill>
            <a:srgbClr val="02457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 sz="4500" noProof="0">
                <a:solidFill>
                  <a:schemeClr val="bg1"/>
                </a:solidFill>
                <a:latin typeface="Baskerville Old Face"/>
              </a:rPr>
              <a:t>Thank you </a:t>
            </a:r>
          </a:p>
          <a:p>
            <a:pPr algn="ctr"/>
            <a:r>
              <a:rPr lang="en-GB" sz="4500">
                <a:solidFill>
                  <a:schemeClr val="bg1"/>
                </a:solidFill>
                <a:latin typeface="Baskerville Old Face"/>
              </a:rPr>
              <a:t>for your attention</a:t>
            </a:r>
            <a:endParaRPr lang="en-GB" sz="4500" noProof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2404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B54A16B5E8B124A8BB9C99876EF6CB0" ma:contentTypeVersion="0" ma:contentTypeDescription="Creare un nuovo documento." ma:contentTypeScope="" ma:versionID="22809263845636bdf08168a02d785e7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4353eee5fe7ae2043b0d0bd8d80189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99D1112-D496-4C32-9A27-6619FFE00120}"/>
</file>

<file path=customXml/itemProps2.xml><?xml version="1.0" encoding="utf-8"?>
<ds:datastoreItem xmlns:ds="http://schemas.openxmlformats.org/officeDocument/2006/customXml" ds:itemID="{C1175A20-F821-417A-9764-133CFC9E149F}"/>
</file>

<file path=customXml/itemProps3.xml><?xml version="1.0" encoding="utf-8"?>
<ds:datastoreItem xmlns:ds="http://schemas.openxmlformats.org/officeDocument/2006/customXml" ds:itemID="{8851AB97-7BD3-45BF-9086-55DB71D6D70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Microsoft Office PowerPoint</Application>
  <PresentationFormat>Widescreen</PresentationFormat>
  <Paragraphs>118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Baskerville Old Face</vt:lpstr>
      <vt:lpstr>Cambria Math</vt:lpstr>
      <vt:lpstr>Courier New</vt:lpstr>
      <vt:lpstr>Wingdings</vt:lpstr>
      <vt:lpstr>Tema di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Eleonora Sgorbini</dc:creator>
  <cp:lastModifiedBy>Eleonora Sgorbini</cp:lastModifiedBy>
  <cp:revision>2</cp:revision>
  <dcterms:created xsi:type="dcterms:W3CDTF">2026-01-14T08:26:08Z</dcterms:created>
  <dcterms:modified xsi:type="dcterms:W3CDTF">2026-01-14T16:54:44Z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0x0101003B54A16B5E8B124A8BB9C99876EF6CB0</vt:lpwstr>
  </property>
</Properties>
</file>